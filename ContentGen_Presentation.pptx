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ContentGen</a:t>
            </a:r>
          </a:p>
          <a:p>
            <a:pPr>
              <a:spcAft>
                <a:spcPts val="2800"/>
              </a:spcAft>
              <a:defRPr sz="2200">
                <a:solidFill>
                  <a:srgbClr val="2B6CB0"/>
                </a:solidFill>
                <a:latin typeface="Calibri"/>
              </a:defRPr>
            </a:pPr>
            <a:r>
              <a:t>Next-Gen AI Content Management &amp; RESTful API Architecture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Node.js  |  Express.js  |  MongoDB  |  Google Gemini AI  |  JWT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B6CB0"/>
                </a:solidFill>
                <a:latin typeface="Calibri"/>
              </a:defRPr>
            </a:pPr>
            <a:r>
              <a:t>BUSINESS CONTEXT</a:t>
            </a:r>
          </a:p>
          <a:p>
            <a:pPr>
              <a:defRPr sz="2400" b="1">
                <a:solidFill>
                  <a:srgbClr val="1A365D"/>
                </a:solidFill>
                <a:latin typeface="Calibri Light"/>
              </a:defRPr>
            </a:pPr>
            <a:r>
              <a:t>Case Study &amp; Operational Requirement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Traditional CMS Bottlenecks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2D3748"/>
                </a:solidFill>
              </a:rPr>
              <a:t>• Draft Fragmentation: </a:t>
            </a:r>
            <a:r>
              <a:rPr>
                <a:solidFill>
                  <a:srgbClr val="718096"/>
                </a:solidFill>
              </a:rPr>
              <a:t>Managing drafts across legacy tools leads to lost edits and version confusion.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2D3748"/>
                </a:solidFill>
              </a:rPr>
              <a:t>• Publishing Delays: </a:t>
            </a:r>
            <a:r>
              <a:rPr>
                <a:solidFill>
                  <a:srgbClr val="718096"/>
                </a:solidFill>
              </a:rPr>
              <a:t>Manual review and approval queues delay release cycles.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2D3748"/>
                </a:solidFill>
              </a:rPr>
              <a:t>• Moderation Overheads: </a:t>
            </a:r>
            <a:r>
              <a:rPr>
                <a:solidFill>
                  <a:srgbClr val="718096"/>
                </a:solidFill>
              </a:rPr>
              <a:t>Comment moderation lacks automated filtering tools.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2D3748"/>
                </a:solidFill>
              </a:rPr>
              <a:t>• Access Control Risks: </a:t>
            </a:r>
            <a:r>
              <a:rPr>
                <a:solidFill>
                  <a:srgbClr val="718096"/>
                </a:solidFill>
              </a:rPr>
              <a:t>Inability to set distinct access levels for Creators, Editors, and Readers.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B6CB0"/>
                </a:solidFill>
              </a:defRPr>
            </a:pPr>
            <a:r>
              <a:t>ContentGen Platform Solution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2D3748"/>
                </a:solidFill>
              </a:rPr>
              <a:t>• Decoupled Architecture: </a:t>
            </a:r>
            <a:r>
              <a:rPr>
                <a:solidFill>
                  <a:srgbClr val="718096"/>
                </a:solidFill>
              </a:rPr>
              <a:t>Centralized REST API for seamless multi-platform delivery.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2D3748"/>
                </a:solidFill>
              </a:rPr>
              <a:t>• AI Generation Engine: </a:t>
            </a:r>
            <a:r>
              <a:rPr>
                <a:solidFill>
                  <a:srgbClr val="718096"/>
                </a:solidFill>
              </a:rPr>
              <a:t>Google Gemini AI pipeline for automated blog creation and summarization.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2D3748"/>
                </a:solidFill>
              </a:rPr>
              <a:t>• Strict RBAC Shield: </a:t>
            </a:r>
            <a:r>
              <a:rPr>
                <a:solidFill>
                  <a:srgbClr val="718096"/>
                </a:solidFill>
              </a:rPr>
              <a:t>Granular JWT authentication across 4 distinct user authorization levels.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2D3748"/>
                </a:solidFill>
              </a:rPr>
              <a:t>• Structured Media: </a:t>
            </a:r>
            <a:r>
              <a:rPr>
                <a:solidFill>
                  <a:srgbClr val="718096"/>
                </a:solidFill>
              </a:rPr>
              <a:t>Persistent media registration via Mongoose Object Data Modeling.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B6CB0"/>
                </a:solidFill>
                <a:latin typeface="Calibri"/>
              </a:defRPr>
            </a:pPr>
            <a:r>
              <a:t>SYSTEM ARCHITECTURE</a:t>
            </a:r>
          </a:p>
          <a:p>
            <a:pPr>
              <a:defRPr sz="2400" b="1">
                <a:solidFill>
                  <a:srgbClr val="1A365D"/>
                </a:solidFill>
                <a:latin typeface="Calibri Light"/>
              </a:defRPr>
            </a:pPr>
            <a:r>
              <a:t>Layered System Architecture &amp; Gateway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920240" cy="40233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645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B6CB0"/>
                </a:solidFill>
              </a:defRPr>
            </a:pPr>
            <a:r>
              <a:t>01</a:t>
            </a:r>
          </a:p>
          <a:p>
            <a:pPr>
              <a:spcAft>
                <a:spcPts val="800"/>
              </a:spcAft>
              <a:defRPr sz="1500" b="1">
                <a:solidFill>
                  <a:srgbClr val="1A365D"/>
                </a:solidFill>
              </a:defRPr>
            </a:pPr>
            <a:r>
              <a:t>Client Tier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Postman / Dashboard / Mobile Apps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828800"/>
            <a:ext cx="1920240" cy="40233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2011680"/>
            <a:ext cx="1645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B6CB0"/>
                </a:solidFill>
              </a:defRPr>
            </a:pPr>
            <a:r>
              <a:t>02</a:t>
            </a:r>
          </a:p>
          <a:p>
            <a:pPr>
              <a:spcAft>
                <a:spcPts val="800"/>
              </a:spcAft>
              <a:defRPr sz="1500" b="1">
                <a:solidFill>
                  <a:srgbClr val="1A365D"/>
                </a:solidFill>
              </a:defRPr>
            </a:pPr>
            <a:r>
              <a:t>Express Gateway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CORS, Parsing &amp; Rate Limiter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828800"/>
            <a:ext cx="1920240" cy="40233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2011680"/>
            <a:ext cx="1645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B6CB0"/>
                </a:solidFill>
              </a:defRPr>
            </a:pPr>
            <a:r>
              <a:t>03</a:t>
            </a:r>
          </a:p>
          <a:p>
            <a:pPr>
              <a:spcAft>
                <a:spcPts val="800"/>
              </a:spcAft>
              <a:defRPr sz="1500" b="1">
                <a:solidFill>
                  <a:srgbClr val="1A365D"/>
                </a:solidFill>
              </a:defRPr>
            </a:pPr>
            <a:r>
              <a:t>Security Shield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JWT Token &amp; RBAC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199" y="1828800"/>
            <a:ext cx="1920240" cy="402336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59" y="2011680"/>
            <a:ext cx="1645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B6CB0"/>
                </a:solidFill>
              </a:defRPr>
            </a:pPr>
            <a:r>
              <a:t>04</a:t>
            </a:r>
          </a:p>
          <a:p>
            <a:pPr>
              <a:spcAft>
                <a:spcPts val="800"/>
              </a:spcAft>
              <a:defRPr sz="1500" b="1">
                <a:solidFill>
                  <a:srgbClr val="1A365D"/>
                </a:solidFill>
              </a:defRPr>
            </a:pPr>
            <a:r>
              <a:t>Execution Logic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Blog CRUD, Comments &amp; AI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828800"/>
            <a:ext cx="1920240" cy="40233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2011680"/>
            <a:ext cx="1645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B6CB0"/>
                </a:solidFill>
              </a:defRPr>
            </a:pPr>
            <a:r>
              <a:t>05</a:t>
            </a:r>
          </a:p>
          <a:p>
            <a:pPr>
              <a:spcAft>
                <a:spcPts val="800"/>
              </a:spcAft>
              <a:defRPr sz="1500" b="1">
                <a:solidFill>
                  <a:srgbClr val="1A365D"/>
                </a:solidFill>
              </a:defRPr>
            </a:pPr>
            <a:r>
              <a:t>Data Persistence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Mongoose ODM &amp; MongoDB Cluster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B6CB0"/>
                </a:solidFill>
                <a:latin typeface="Calibri"/>
              </a:defRPr>
            </a:pPr>
            <a:r>
              <a:t>INTELLIGENT AUTOMATION</a:t>
            </a:r>
          </a:p>
          <a:p>
            <a:pPr>
              <a:defRPr sz="2400" b="1">
                <a:solidFill>
                  <a:srgbClr val="1A365D"/>
                </a:solidFill>
                <a:latin typeface="Calibri Light"/>
              </a:defRPr>
            </a:pPr>
            <a:r>
              <a:t>Google Gemini AI Integration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AI Services Core</a:t>
            </a:r>
          </a:p>
          <a:p>
            <a:pPr>
              <a:spcAft>
                <a:spcPts val="1200"/>
              </a:spcAft>
              <a:defRPr sz="1300"/>
            </a:pPr>
            <a:r>
              <a:rPr b="1">
                <a:solidFill>
                  <a:srgbClr val="2D3748"/>
                </a:solidFill>
              </a:rPr>
              <a:t>• Automated Article Generation: </a:t>
            </a:r>
            <a:r>
              <a:rPr>
                <a:solidFill>
                  <a:srgbClr val="718096"/>
                </a:solidFill>
              </a:rPr>
              <a:t>Synthesizes structured blog posts from topic, tone, and keyword parameters.</a:t>
            </a:r>
          </a:p>
          <a:p>
            <a:pPr>
              <a:spcAft>
                <a:spcPts val="1200"/>
              </a:spcAft>
              <a:defRPr sz="1300"/>
            </a:pPr>
            <a:r>
              <a:rPr b="1">
                <a:solidFill>
                  <a:srgbClr val="2D3748"/>
                </a:solidFill>
              </a:rPr>
              <a:t>• Executive Summarization: </a:t>
            </a:r>
            <a:r>
              <a:rPr>
                <a:solidFill>
                  <a:srgbClr val="718096"/>
                </a:solidFill>
              </a:rPr>
              <a:t>Parses lengthy text payloads into concise bulleted abstracts via semantic analysis.</a:t>
            </a:r>
          </a:p>
          <a:p>
            <a:pPr>
              <a:spcAft>
                <a:spcPts val="1200"/>
              </a:spcAft>
              <a:defRPr sz="1300"/>
            </a:pPr>
            <a:r>
              <a:rPr b="1">
                <a:solidFill>
                  <a:srgbClr val="2D3748"/>
                </a:solidFill>
              </a:rPr>
              <a:t>• Dynamic SEO Metadata: </a:t>
            </a:r>
            <a:r>
              <a:rPr>
                <a:solidFill>
                  <a:srgbClr val="718096"/>
                </a:solidFill>
              </a:rPr>
              <a:t>Generates tag taxonomies and meta descriptions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B6CB0"/>
                </a:solidFill>
                <a:latin typeface="Consolas"/>
              </a:defRPr>
            </a:pPr>
            <a:r>
              <a:t>// POST /api/ai/generate-blog</a:t>
            </a:r>
          </a:p>
          <a:p>
            <a:pPr>
              <a:defRPr sz="1100">
                <a:solidFill>
                  <a:srgbClr val="2D3748"/>
                </a:solidFill>
                <a:latin typeface="Consolas"/>
              </a:defRPr>
            </a:pPr>
            <a:r>
              <a:t>{</a:t>
            </a:r>
            <a:br/>
            <a:r>
              <a:t>  "topic": "Microservices in Node.js",</a:t>
            </a:r>
            <a:br/>
            <a:r>
              <a:t>  "keywords": ["Express", "MongoDB", "REST"],</a:t>
            </a:r>
            <a:br/>
            <a:r>
              <a:t>  "tone": "Technical and Authoritative"</a:t>
            </a:r>
            <a:br/>
            <a:r>
              <a:t>}</a:t>
            </a:r>
            <a:br/>
            <a:br/>
            <a:r>
              <a:t>// Controller Execution Logic</a:t>
            </a:r>
            <a:br/>
            <a:r>
              <a:t>const model = genAI.getGenerativeModel({</a:t>
            </a:r>
            <a:br/>
            <a:r>
              <a:t>    model: 'gemini-pro'</a:t>
            </a:r>
            <a:br/>
            <a:r>
              <a:t>});</a:t>
            </a:r>
            <a:br/>
            <a:r>
              <a:t>const result = await model.generateContent(prompt);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B6CB0"/>
                </a:solidFill>
                <a:latin typeface="Calibri"/>
              </a:defRPr>
            </a:pPr>
            <a:r>
              <a:t>SECURITY ARCHITECTURE</a:t>
            </a:r>
          </a:p>
          <a:p>
            <a:pPr>
              <a:defRPr sz="2400" b="1">
                <a:solidFill>
                  <a:srgbClr val="1A365D"/>
                </a:solidFill>
                <a:latin typeface="Calibri Light"/>
              </a:defRPr>
            </a:pPr>
            <a:r>
              <a:t>Role-Based Access Control (RBAC) &amp; Security Shield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455"/>
                <a:gridCol w="1828800"/>
                <a:gridCol w="1828800"/>
                <a:gridCol w="1828800"/>
                <a:gridCol w="1828800"/>
              </a:tblGrid>
              <a:tr h="792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System Action / Route Endpoint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Reader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Author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Editor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3748"/>
                          </a:solidFill>
                        </a:defRPr>
                      </a:pPr>
                      <a:r>
                        <a:t>Read Published Blog Posts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6CB0"/>
                          </a:solidFill>
                        </a:defRPr>
                      </a:pPr>
                      <a:r>
                        <a:t>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6CB0"/>
                          </a:solidFill>
                        </a:defRPr>
                      </a:pPr>
                      <a:r>
                        <a:t>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6CB0"/>
                          </a:solidFill>
                        </a:defRPr>
                      </a:pPr>
                      <a:r>
                        <a:t>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6CB0"/>
                          </a:solidFill>
                        </a:defRPr>
                      </a:pPr>
                      <a:r>
                        <a:t>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3748"/>
                          </a:solidFill>
                        </a:defRPr>
                      </a:pPr>
                      <a:r>
                        <a:t>Submit Reader Comments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6CB0"/>
                          </a:solidFill>
                        </a:defRPr>
                      </a:pPr>
                      <a:r>
                        <a:t>ALLOWED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6CB0"/>
                          </a:solidFill>
                        </a:defRPr>
                      </a:pPr>
                      <a:r>
                        <a:t>ALLOWED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6CB0"/>
                          </a:solidFill>
                        </a:defRPr>
                      </a:pPr>
                      <a:r>
                        <a:t>ALLOWED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6CB0"/>
                          </a:solidFill>
                        </a:defRPr>
                      </a:pPr>
                      <a:r>
                        <a:t>ALLOWED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3748"/>
                          </a:solidFill>
                        </a:defRPr>
                      </a:pPr>
                      <a:r>
                        <a:t>Create Draft Posts &amp; Trigger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718096"/>
                          </a:solidFill>
                        </a:defRPr>
                      </a:pPr>
                      <a:r>
                        <a:t>RESTRICTED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6CB0"/>
                          </a:solidFill>
                        </a:defRPr>
                      </a:pPr>
                      <a:r>
                        <a:t>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6CB0"/>
                          </a:solidFill>
                        </a:defRPr>
                      </a:pPr>
                      <a:r>
                        <a:t>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6CB0"/>
                          </a:solidFill>
                        </a:defRPr>
                      </a:pPr>
                      <a:r>
                        <a:t>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3748"/>
                          </a:solidFill>
                        </a:defRPr>
                      </a:pPr>
                      <a:r>
                        <a:t>Publish, Approve &amp; Edit Any Post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718096"/>
                          </a:solidFill>
                        </a:defRPr>
                      </a:pPr>
                      <a:r>
                        <a:t>RESTRICTED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718096"/>
                          </a:solidFill>
                        </a:defRPr>
                      </a:pPr>
                      <a:r>
                        <a:t>RESTRICTED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6CB0"/>
                          </a:solidFill>
                        </a:defRPr>
                      </a:pPr>
                      <a:r>
                        <a:t>ALLOWED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6CB0"/>
                          </a:solidFill>
                        </a:defRPr>
                      </a:pPr>
                      <a:r>
                        <a:t>ALLOWED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3748"/>
                          </a:solidFill>
                        </a:defRPr>
                      </a:pPr>
                      <a:r>
                        <a:t>User Role Promotion &amp;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718096"/>
                          </a:solidFill>
                        </a:defRPr>
                      </a:pPr>
                      <a:r>
                        <a:t>RESTRICTED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718096"/>
                          </a:solidFill>
                        </a:defRPr>
                      </a:pPr>
                      <a:r>
                        <a:t>RESTRICTED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718096"/>
                          </a:solidFill>
                        </a:defRPr>
                      </a:pPr>
                      <a:r>
                        <a:t>RESTRICTED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6CB0"/>
                          </a:solidFill>
                        </a:defRPr>
                      </a:pPr>
                      <a:r>
                        <a:t>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B6CB0"/>
                </a:solidFill>
                <a:latin typeface="Calibri"/>
              </a:defRPr>
            </a:pPr>
            <a:r>
              <a:t>DATA MODELING</a:t>
            </a:r>
          </a:p>
          <a:p>
            <a:pPr>
              <a:defRPr sz="2400" b="1">
                <a:solidFill>
                  <a:srgbClr val="1A365D"/>
                </a:solidFill>
                <a:latin typeface="Calibri Light"/>
              </a:defRPr>
            </a:pPr>
            <a:r>
              <a:t>Database Entity Relationship &amp; Mongoose Schemas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User Schema</a:t>
            </a:r>
          </a:p>
          <a:p>
            <a:pPr>
              <a:spcAft>
                <a:spcPts val="1200"/>
              </a:spcAft>
              <a:defRPr sz="1100" i="1">
                <a:solidFill>
                  <a:srgbClr val="2B6CB0"/>
                </a:solidFill>
              </a:defRPr>
            </a:pPr>
            <a:r>
              <a:t>Users Collection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2D3748"/>
                </a:solidFill>
              </a:rPr>
              <a:t>_id: </a:t>
            </a:r>
            <a:r>
              <a:rPr>
                <a:solidFill>
                  <a:srgbClr val="718096"/>
                </a:solidFill>
              </a:rPr>
              <a:t>ObjectId (Primary Key)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2D3748"/>
                </a:solidFill>
              </a:rPr>
              <a:t>name: </a:t>
            </a:r>
            <a:r>
              <a:rPr>
                <a:solidFill>
                  <a:srgbClr val="718096"/>
                </a:solidFill>
              </a:rPr>
              <a:t>String (Required)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2D3748"/>
                </a:solidFill>
              </a:rPr>
              <a:t>email: </a:t>
            </a:r>
            <a:r>
              <a:rPr>
                <a:solidFill>
                  <a:srgbClr val="718096"/>
                </a:solidFill>
              </a:rPr>
              <a:t>String (Unique, Indexed)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2D3748"/>
                </a:solidFill>
              </a:rPr>
              <a:t>password: </a:t>
            </a:r>
            <a:r>
              <a:rPr>
                <a:solidFill>
                  <a:srgbClr val="718096"/>
                </a:solidFill>
              </a:rPr>
              <a:t>String (Bcrypt Hash)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2D3748"/>
                </a:solidFill>
              </a:rPr>
              <a:t>role: </a:t>
            </a:r>
            <a:r>
              <a:rPr>
                <a:solidFill>
                  <a:srgbClr val="718096"/>
                </a:solidFill>
              </a:rPr>
              <a:t>Enum ['reader','author','editor','admin']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Post Schema</a:t>
            </a:r>
          </a:p>
          <a:p>
            <a:pPr>
              <a:spcAft>
                <a:spcPts val="1200"/>
              </a:spcAft>
              <a:defRPr sz="1100" i="1">
                <a:solidFill>
                  <a:srgbClr val="2B6CB0"/>
                </a:solidFill>
              </a:defRPr>
            </a:pPr>
            <a:r>
              <a:t>Posts Collection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2D3748"/>
                </a:solidFill>
              </a:rPr>
              <a:t>_id: </a:t>
            </a:r>
            <a:r>
              <a:rPr>
                <a:solidFill>
                  <a:srgbClr val="718096"/>
                </a:solidFill>
              </a:rPr>
              <a:t>ObjectId (Primary Key)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2D3748"/>
                </a:solidFill>
              </a:rPr>
              <a:t>userID: </a:t>
            </a:r>
            <a:r>
              <a:rPr>
                <a:solidFill>
                  <a:srgbClr val="718096"/>
                </a:solidFill>
              </a:rPr>
              <a:t>ObjectId (FK -&gt; User)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2D3748"/>
                </a:solidFill>
              </a:rPr>
              <a:t>title: </a:t>
            </a:r>
            <a:r>
              <a:rPr>
                <a:solidFill>
                  <a:srgbClr val="718096"/>
                </a:solidFill>
              </a:rPr>
              <a:t>String (Required)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2D3748"/>
                </a:solidFill>
              </a:rPr>
              <a:t>content: </a:t>
            </a:r>
            <a:r>
              <a:rPr>
                <a:solidFill>
                  <a:srgbClr val="718096"/>
                </a:solidFill>
              </a:rPr>
              <a:t>String (Required Text)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2D3748"/>
                </a:solidFill>
              </a:rPr>
              <a:t>status: </a:t>
            </a:r>
            <a:r>
              <a:rPr>
                <a:solidFill>
                  <a:srgbClr val="718096"/>
                </a:solidFill>
              </a:rPr>
              <a:t>Enum ['draft','pending','published']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Comment Schema</a:t>
            </a:r>
          </a:p>
          <a:p>
            <a:pPr>
              <a:spcAft>
                <a:spcPts val="1200"/>
              </a:spcAft>
              <a:defRPr sz="1100" i="1">
                <a:solidFill>
                  <a:srgbClr val="2B6CB0"/>
                </a:solidFill>
              </a:defRPr>
            </a:pPr>
            <a:r>
              <a:t>Comments Collection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2D3748"/>
                </a:solidFill>
              </a:rPr>
              <a:t>_id: </a:t>
            </a:r>
            <a:r>
              <a:rPr>
                <a:solidFill>
                  <a:srgbClr val="718096"/>
                </a:solidFill>
              </a:rPr>
              <a:t>ObjectId (Primary Key)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2D3748"/>
                </a:solidFill>
              </a:rPr>
              <a:t>postID: </a:t>
            </a:r>
            <a:r>
              <a:rPr>
                <a:solidFill>
                  <a:srgbClr val="718096"/>
                </a:solidFill>
              </a:rPr>
              <a:t>ObjectId (FK -&gt; Post)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2D3748"/>
                </a:solidFill>
              </a:rPr>
              <a:t>userID: </a:t>
            </a:r>
            <a:r>
              <a:rPr>
                <a:solidFill>
                  <a:srgbClr val="718096"/>
                </a:solidFill>
              </a:rPr>
              <a:t>ObjectId (FK -&gt; User)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2D3748"/>
                </a:solidFill>
              </a:rPr>
              <a:t>content: </a:t>
            </a:r>
            <a:r>
              <a:rPr>
                <a:solidFill>
                  <a:srgbClr val="718096"/>
                </a:solidFill>
              </a:rPr>
              <a:t>String (Required)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2D3748"/>
                </a:solidFill>
              </a:rPr>
              <a:t>isApproved: </a:t>
            </a:r>
            <a:r>
              <a:rPr>
                <a:solidFill>
                  <a:srgbClr val="718096"/>
                </a:solidFill>
              </a:rPr>
              <a:t>Boolean (Default: false)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B6CB0"/>
                </a:solidFill>
                <a:latin typeface="Calibri"/>
              </a:defRPr>
            </a:pPr>
            <a:r>
              <a:t>DEVOPS &amp; HARDENING</a:t>
            </a:r>
          </a:p>
          <a:p>
            <a:pPr>
              <a:defRPr sz="2400" b="1">
                <a:solidFill>
                  <a:srgbClr val="1A365D"/>
                </a:solidFill>
                <a:latin typeface="Calibri Light"/>
              </a:defRPr>
            </a:pPr>
            <a:r>
              <a:t>Production Deployment &amp; Process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A365D"/>
                </a:solidFill>
              </a:defRPr>
            </a:pPr>
            <a:r>
              <a:t>PM2 Cluster Mode</a:t>
            </a:r>
          </a:p>
          <a:p>
            <a:pPr>
              <a:spcAft>
                <a:spcPts val="1000"/>
              </a:spcAft>
              <a:defRPr sz="1200"/>
            </a:pPr>
            <a:r>
              <a:rPr b="1">
                <a:solidFill>
                  <a:srgbClr val="2D3748"/>
                </a:solidFill>
              </a:rPr>
              <a:t>• Multi-Core Scaling: </a:t>
            </a:r>
            <a:r>
              <a:rPr>
                <a:solidFill>
                  <a:srgbClr val="718096"/>
                </a:solidFill>
              </a:rPr>
              <a:t>Runs instances across all CPU cores in cluster mode.</a:t>
            </a:r>
          </a:p>
          <a:p>
            <a:pPr>
              <a:spcAft>
                <a:spcPts val="1000"/>
              </a:spcAft>
              <a:defRPr sz="1200"/>
            </a:pPr>
            <a:r>
              <a:rPr b="1">
                <a:solidFill>
                  <a:srgbClr val="2D3748"/>
                </a:solidFill>
              </a:rPr>
              <a:t>• Zero-Downtime Releases: </a:t>
            </a:r>
            <a:r>
              <a:rPr>
                <a:solidFill>
                  <a:srgbClr val="718096"/>
                </a:solidFill>
              </a:rPr>
              <a:t>Seamless reloads without dropping active HTTP connections.</a:t>
            </a:r>
          </a:p>
          <a:p>
            <a:pPr>
              <a:spcAft>
                <a:spcPts val="1000"/>
              </a:spcAft>
              <a:defRPr sz="1200"/>
            </a:pPr>
            <a:r>
              <a:rPr b="1">
                <a:solidFill>
                  <a:srgbClr val="2D3748"/>
                </a:solidFill>
              </a:rPr>
              <a:t>• Process Persistence: </a:t>
            </a:r>
            <a:r>
              <a:rPr>
                <a:solidFill>
                  <a:srgbClr val="718096"/>
                </a:solidFill>
              </a:rPr>
              <a:t>Automatic recovery and reboot resilience.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B6CB0"/>
                </a:solidFill>
              </a:defRPr>
            </a:pPr>
            <a:r>
              <a:t>Security Hardening</a:t>
            </a:r>
          </a:p>
          <a:p>
            <a:pPr>
              <a:spcAft>
                <a:spcPts val="1000"/>
              </a:spcAft>
              <a:defRPr sz="1200"/>
            </a:pPr>
            <a:r>
              <a:rPr b="1">
                <a:solidFill>
                  <a:srgbClr val="2D3748"/>
                </a:solidFill>
              </a:rPr>
              <a:t>• Helmet Headers: </a:t>
            </a:r>
            <a:r>
              <a:rPr>
                <a:solidFill>
                  <a:srgbClr val="718096"/>
                </a:solidFill>
              </a:rPr>
              <a:t>Sets HTTP headers to block XSS and clickjacking.</a:t>
            </a:r>
          </a:p>
          <a:p>
            <a:pPr>
              <a:spcAft>
                <a:spcPts val="1000"/>
              </a:spcAft>
              <a:defRPr sz="1200"/>
            </a:pPr>
            <a:r>
              <a:rPr b="1">
                <a:solidFill>
                  <a:srgbClr val="2D3748"/>
                </a:solidFill>
              </a:rPr>
              <a:t>• Rate Limiting: </a:t>
            </a:r>
            <a:r>
              <a:rPr>
                <a:solidFill>
                  <a:srgbClr val="718096"/>
                </a:solidFill>
              </a:rPr>
              <a:t>Restricts IP request rates to prevent brute-force attacks.</a:t>
            </a:r>
          </a:p>
          <a:p>
            <a:pPr>
              <a:spcAft>
                <a:spcPts val="1000"/>
              </a:spcAft>
              <a:defRPr sz="1200"/>
            </a:pPr>
            <a:r>
              <a:rPr b="1">
                <a:solidFill>
                  <a:srgbClr val="2D3748"/>
                </a:solidFill>
              </a:rPr>
              <a:t>• Secrets Vaulting: </a:t>
            </a:r>
            <a:r>
              <a:rPr>
                <a:solidFill>
                  <a:srgbClr val="718096"/>
                </a:solidFill>
              </a:rPr>
              <a:t>JWT secrets and Gemini API keys isolated in environment variables.</a:t>
            </a:r>
          </a:p>
          <a:p>
            <a:pPr>
              <a:spcAft>
                <a:spcPts val="1000"/>
              </a:spcAft>
              <a:defRPr sz="1200"/>
            </a:pPr>
            <a:r>
              <a:rPr b="1">
                <a:solidFill>
                  <a:srgbClr val="2D3748"/>
                </a:solidFill>
              </a:rPr>
              <a:t>• Sanitization: </a:t>
            </a:r>
            <a:r>
              <a:rPr>
                <a:solidFill>
                  <a:srgbClr val="718096"/>
                </a:solidFill>
              </a:rPr>
              <a:t>Parameter cleaning eliminates NoSQL injection risks.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B6CB0"/>
                </a:solidFill>
                <a:latin typeface="Calibri"/>
              </a:defRPr>
            </a:pPr>
            <a:r>
              <a:t>RESOURCES &amp; VERIFICATION</a:t>
            </a:r>
          </a:p>
          <a:p>
            <a:pPr>
              <a:defRPr sz="2400" b="1">
                <a:solidFill>
                  <a:srgbClr val="1A365D"/>
                </a:solidFill>
                <a:latin typeface="Calibri Light"/>
              </a:defRPr>
            </a:pPr>
            <a:r>
              <a:t>Project Repositories &amp; Demonstration Media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2801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A365D"/>
                </a:solidFill>
              </a:defRPr>
            </a:pPr>
            <a:r>
              <a:t>Video Walkthrough Demonstrations</a:t>
            </a:r>
          </a:p>
          <a:p>
            <a:pPr>
              <a:spcAft>
                <a:spcPts val="200"/>
              </a:spcAft>
              <a:defRPr sz="1200">
                <a:solidFill>
                  <a:srgbClr val="2D3748"/>
                </a:solidFill>
              </a:defRPr>
            </a:pPr>
            <a:r>
              <a:t>Full demonstration of system features and backend operations.</a:t>
            </a:r>
          </a:p>
          <a:p>
            <a:pPr>
              <a:defRPr sz="1100">
                <a:solidFill>
                  <a:srgbClr val="2B6CB0"/>
                </a:solidFill>
              </a:defRPr>
            </a:pPr>
            <a:r>
              <a:t>https://drive.google.com/drive/folders/1npyGtRjLGZtjm6-03dbNGqCpstw_St_u?usp=sharing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728655" cy="12801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15468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A365D"/>
                </a:solidFill>
              </a:defRPr>
            </a:pPr>
            <a:r>
              <a:t>API Testing Execution Video</a:t>
            </a:r>
          </a:p>
          <a:p>
            <a:pPr>
              <a:spcAft>
                <a:spcPts val="200"/>
              </a:spcAft>
              <a:defRPr sz="1200">
                <a:solidFill>
                  <a:srgbClr val="2D3748"/>
                </a:solidFill>
              </a:defRPr>
            </a:pPr>
            <a:r>
              <a:t>Postman endpoint verification and authentication suite.</a:t>
            </a:r>
          </a:p>
          <a:p>
            <a:pPr>
              <a:defRPr sz="1100">
                <a:solidFill>
                  <a:srgbClr val="2B6CB0"/>
                </a:solidFill>
              </a:defRPr>
            </a:pPr>
            <a:r>
              <a:t>https://drive.google.com/file/d/1mfPIZq0dpU1TAvZk6_Te9StsQXBBDaow/view?usp=drive_link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728655" cy="12801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70916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A365D"/>
                </a:solidFill>
              </a:defRPr>
            </a:pPr>
            <a:r>
              <a:t>Source Code Repository Drive</a:t>
            </a:r>
          </a:p>
          <a:p>
            <a:pPr>
              <a:spcAft>
                <a:spcPts val="200"/>
              </a:spcAft>
              <a:defRPr sz="1200">
                <a:solidFill>
                  <a:srgbClr val="2D3748"/>
                </a:solidFill>
              </a:defRPr>
            </a:pPr>
            <a:r>
              <a:t>Complete backend source codebase, controllers, and schemas.</a:t>
            </a:r>
          </a:p>
          <a:p>
            <a:pPr>
              <a:defRPr sz="1100">
                <a:solidFill>
                  <a:srgbClr val="2B6CB0"/>
                </a:solidFill>
              </a:defRPr>
            </a:pPr>
            <a:r>
              <a:t>https://drive.google.com/drive/folders/1S69VGxkcmkrsPhfJ6CE9af4Nf9WVnLsj?usp=sharing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